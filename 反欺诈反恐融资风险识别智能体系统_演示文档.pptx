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7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39319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反欺诈与反恐融资风险识别智能体系统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A0B8D8"/>
                </a:solidFill>
                <a:latin typeface="Microsoft YaHei"/>
              </a:defRPr>
            </a:pPr>
            <a:r>
              <a:t>Anti-Fraud &amp; Counter-Terrorism Financing Risk Identification 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Microsoft YaHei"/>
              </a:defRPr>
            </a:pPr>
            <a:r>
              <a:t>大数据驱动 · AI智能体决策 · 全链路风控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版本 V2.0  |  2026年5月  |  银行科技部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  录 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3619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项目背景与系统概述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76272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942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系统架构设计（五层架构）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89504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6265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6265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大数据采集与处理层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02736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7588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风控知识库设计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89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AI智能体设计（核心决策）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10235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核心模块：规则引擎 &amp; Flink计算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742431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815583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15583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机器学习模型体系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536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53619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API接口设计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76272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24942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24942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数据库架构设计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89504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96265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96265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安全架构设计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602736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67588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67588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部署架构（K8S + Docker）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15968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43891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89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监控运维与告警体系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2920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51023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10235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技术栈总览与总结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01  项目背景与系统概述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Business Background &amp; 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金融业务全球化和数字化带来严峻的反欺诈与反恐融资挑战：</a:t>
            </a:r>
            <a:br/>
            <a:r>
              <a:t>• 传统规则监控误报率高、响应速度慢</a:t>
            </a:r>
            <a:br/>
            <a:r>
              <a:t>• 新型欺诈模式难以识别</a:t>
            </a:r>
            <a:br/>
            <a:r>
              <a:t>• 监管合规要求日益严格</a:t>
            </a:r>
            <a:br/>
            <a:r>
              <a:t>• 需满足FATF 40项建议、人行管理办法等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可疑交易识别准确率 ≥ 95%</a:t>
            </a:r>
            <a:br/>
            <a:r>
              <a:t>• 误报率 ≤ 15%</a:t>
            </a:r>
            <a:br/>
            <a:r>
              <a:t>• 高风险事件预警响应 ≤ 5分钟</a:t>
            </a:r>
            <a:br/>
            <a:r>
              <a:t>• 覆盖100%电子银行交易</a:t>
            </a:r>
            <a:br/>
            <a:r>
              <a:t>• AI智能体实时检索知识库辅助决策</a:t>
            </a:r>
            <a:br/>
            <a:r>
              <a:t>• 所有风险评级结果具备可解释性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155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创新架构：大数据 + 知识库 + AI智能体三层驱动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10881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【大数据采集治理层】→ 全渠道数据采集、清洗、特征提取 → 结构化风控数据湖 │</a:t>
            </a:r>
            <a:br/>
            <a:r>
              <a:t>│  【风控知识库层】→ 规则库 + 黑名单库 + 案例库 + 用户画像库 → 辅助决策   │</a:t>
            </a:r>
            <a:br/>
            <a:r>
              <a:t>│  【AI智能体决策层】→ 知识检索(RAG) + 规则引擎(Drools) + ML模型 → 智能决策│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02  系统架构设计（五层架构）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Five-Layer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926080" cy="8229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第五层：智能决策输出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风险评分 · 决策建议(PASS/REVIEW/BLOCK) · 溯源原因 · 相似案例推荐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45920" y="2240280"/>
            <a:ext cx="45720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2926080" cy="8229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第四层：AI智能体决策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423160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知识检索(RAG) + 规则引擎(Drools) + ML模型 → 综合评分(规则40%+模型60%)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645920" y="3291840"/>
            <a:ext cx="45720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926080" cy="82296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第三层：风控知识库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474720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规则库 · 黑名单库 · 欺诈案例库 · 用户行为画像库 · 向量化处理(FAISS/Milvus)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645920" y="4343400"/>
            <a:ext cx="45720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526279"/>
            <a:ext cx="2926080" cy="822960"/>
          </a:xfrm>
          <a:prstGeom prst="rect">
            <a:avLst/>
          </a:prstGeom>
          <a:solidFill>
            <a:srgbClr val="1D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39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第二层：大数据清洗治理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526279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4709159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Flink流处理：数据接入 → 校验 → 清洗 → 特征提取 → 名单匹配 → 风险评分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645920" y="5394959"/>
            <a:ext cx="45720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292608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第一层：大数据采集层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577840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交易系统 · 埋点日志 · 用户行为 · 设备指纹 · 外部风险数据 → Kafka/Flume/Canal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03  大数据采集与处理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Big Data Collection &amp;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数据源接入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交易流水 → Kafka实时流 (≥5000 TPS)</a:t>
            </a:r>
            <a:br/>
            <a:r>
              <a:t>• 埋点日志 → Filebeat/Flume采集</a:t>
            </a:r>
            <a:br/>
            <a:r>
              <a:t>• 设备指纹 → SDK实时上报</a:t>
            </a:r>
            <a:br/>
            <a:r>
              <a:t>• 用户行为 → 行为序列存储</a:t>
            </a:r>
            <a:br/>
            <a:r>
              <a:t>• 外部数据 → API/文件批量导入</a:t>
            </a:r>
            <a:br/>
            <a:r>
              <a:t>• 数据库CDC → Debezium/Canal同步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Flink流处理流水线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数据接入 → 数据校验 → 实时清洗 → 实时特征 → 名单匹配 → 风险评分 → 结果输出</a:t>
            </a:r>
            <a:br/>
            <a:br/>
            <a:r>
              <a:t>• 去重去噪 | 格式统一 | 数据脱敏</a:t>
            </a:r>
            <a:br/>
            <a:r>
              <a:t>• 异常过滤 | 特征聚合 | 行为统计</a:t>
            </a:r>
            <a:br/>
            <a:r>
              <a:t>• 1h/24h交易频次 | 异地次数 | 设备统计</a:t>
            </a:r>
            <a:br/>
            <a:r>
              <a:t>• 窗口：1/7/30/90天滑动计算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155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实时特征提取 (FeatureExtractionProcess)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108813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特征类别        | 特征名称         | 计算方式         | 更新频率</a:t>
            </a:r>
            <a:br/>
            <a:r>
              <a:t>金额特征        | 1h交易总金额    | 滑动窗口SUM      | 实时</a:t>
            </a:r>
            <a:br/>
            <a:r>
              <a:t>频率特征        | 1h交易笔数      | 滑动窗口COUNT     | 实时</a:t>
            </a:r>
            <a:br/>
            <a:r>
              <a:t>设备特征        | 30天使用设备数   | MapState计数     | 实时</a:t>
            </a:r>
            <a:br/>
            <a:r>
              <a:t>地域特征        | 30天涉及城市数   | MapState计数     | 实时</a:t>
            </a:r>
            <a:br/>
            <a:r>
              <a:t>行为偏离度      | 金额偏差        | n(当前-均值)/标准差 | 实时</a:t>
            </a:r>
            <a:br/>
            <a:r>
              <a:t>离线特征        | 30天交易总额/笔均 | Spark日聚合     | 日更新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04  风控知识库设计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Risk Control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规则库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历史风控规则 · 欺诈团伙特征</a:t>
            </a:r>
            <a:br/>
            <a:r>
              <a:t>作案模式文档 · 300+条规则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0604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Microsoft YaHei"/>
              </a:defRPr>
            </a:pPr>
            <a:r>
              <a:t>黑名单库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制裁名单(UN/EU/中国/OFAC)</a:t>
            </a:r>
            <a:br/>
            <a:r>
              <a:t>内部黑名单 · 高风险名单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2D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DA04F"/>
                </a:solidFill>
                <a:latin typeface="Microsoft YaHei"/>
              </a:defRPr>
            </a:pPr>
            <a:r>
              <a:t>案例库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2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历史欺诈样本 · 风险处置方案</a:t>
            </a:r>
            <a:br/>
            <a:r>
              <a:t>误判复盘 · 全文检索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6060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60604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15087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画像库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7452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正常行为基线 · 风险阈值表</a:t>
            </a:r>
            <a:br/>
            <a:r>
              <a:t>地域风险等级 · 设备风险清单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向量化处理层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605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文本分词 → 向量化(Embedding) → 向量存储(FAISS/Milvus) → 索引构建</a:t>
            </a:r>
            <a:br/>
            <a:br/>
            <a:r>
              <a:t>• 文本向量化模型: text2vec-chinese / BGE</a:t>
            </a:r>
            <a:br/>
            <a:r>
              <a:t>• 向量维度: 768 (BERT) / 256 (轻量)</a:t>
            </a:r>
            <a:br/>
            <a:r>
              <a:t>• 相似度检索: 余弦相似度</a:t>
            </a:r>
            <a:br/>
            <a:r>
              <a:t>• 检索性能: P99 &lt; 500ms</a:t>
            </a:r>
            <a:br/>
            <a:br/>
            <a:r>
              <a:t>KnowledgeBaseVectorizer 核心方法:</a:t>
            </a:r>
            <a:br/>
            <a:r>
              <a:t>• vectorize_document() - 文档向量化</a:t>
            </a:r>
            <a:br/>
            <a:r>
              <a:t>• add_knowledge() - 添加知识条目</a:t>
            </a:r>
            <a:br/>
            <a:r>
              <a:t>• search_similar(query, top_k=5) - 相似检索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657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知识库管理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版本管理  ·  增量更新 ·  质量审核  ·  全文检索</a:t>
            </a:r>
            <a:br/>
            <a:br/>
            <a:r>
              <a:t>格式支持:</a:t>
            </a:r>
            <a:br/>
            <a:r>
              <a:t>• Markdown / PDF - 文档类知识</a:t>
            </a:r>
            <a:br/>
            <a:r>
              <a:t>• CSV / Excel - 表格类知识</a:t>
            </a:r>
            <a:br/>
            <a:r>
              <a:t>• JSON - 结构化API知识</a:t>
            </a:r>
            <a:br/>
            <a:br/>
            <a:r>
              <a:t>同步机制:</a:t>
            </a:r>
            <a:br/>
            <a:r>
              <a:t>• 实时变更通知 → Kafka topic</a:t>
            </a:r>
            <a:br/>
            <a:r>
              <a:t>• 定时全量重建 → 每日凌晨</a:t>
            </a:r>
            <a:br/>
            <a:r>
              <a:t>• 增量向量更新 → 热加载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05  AI智能体设计（核心决策引擎）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AI Agent Core Decision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155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智能体推理流程 (AntiFraudAgent.assess_transaction)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  [交易请求] → [上下文构建] → [RAG知识检索] → [规则引擎匹配] → [ML模型推理]</a:t>
            </a:r>
            <a:br/>
            <a:r>
              <a:t>       │             │                │                 │                 │</a:t>
            </a:r>
            <a:br/>
            <a:r>
              <a:t>       ▼             ▼                ▼                 ▼                 ▼</a:t>
            </a:r>
            <a:br/>
            <a:r>
              <a:t>  [响应决策] ← [综合评分]      ← [FAISS检索]    ← [Drools执行]   ← [特征提取]</a:t>
            </a:r>
            <a:br/>
            <a:r>
              <a:t>               规则40%+模型60%    相似案例匹配      规则评分          ML评分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4747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3474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RAG知识检索增强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40"/>
            <a:ext cx="3200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1. 规则检索 → Drools引擎</a:t>
            </a:r>
            <a:br/>
            <a:r>
              <a:t>2. 案例检索 → FAISS相似度</a:t>
            </a:r>
            <a:br/>
            <a:r>
              <a:t>3. 知识检索 → ES全文搜索</a:t>
            </a:r>
            <a:br/>
            <a:br/>
            <a:r>
              <a:t>返回: 相似案例Top-K + 匹配规则列表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474720"/>
            <a:ext cx="34747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3474720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611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决策推理引擎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977640"/>
            <a:ext cx="3200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1. 规则匹配 → 规则评分</a:t>
            </a:r>
            <a:br/>
            <a:r>
              <a:t>2. ML模型 → 欺诈概率/评分</a:t>
            </a:r>
            <a:br/>
            <a:r>
              <a:t>3. 综合评分 → 加权融合</a:t>
            </a:r>
            <a:br/>
            <a:r>
              <a:t>   规则40% + ML模型60%</a:t>
            </a:r>
            <a:br/>
            <a:r>
              <a:t>4. 决策输出: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474720"/>
            <a:ext cx="34747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474720"/>
            <a:ext cx="3474720" cy="54864"/>
          </a:xfrm>
          <a:prstGeom prst="rect">
            <a:avLst/>
          </a:prstGeom>
          <a:solidFill>
            <a:srgbClr val="2D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3611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DA04F"/>
                </a:solidFill>
                <a:latin typeface="Microsoft YaHei"/>
              </a:defRPr>
            </a:pPr>
            <a:r>
              <a:t>决策输出示例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977640"/>
            <a:ext cx="3200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高风险(80-100): BLOCK 阻断</a:t>
            </a:r>
            <a:br/>
            <a:r>
              <a:t>中风险(50-79): REVIEW 审核</a:t>
            </a:r>
            <a:br/>
            <a:r>
              <a:t>低风险(0-49): PASS 放行</a:t>
            </a:r>
            <a:br/>
            <a:br/>
            <a:r>
              <a:t>输出内容:</a:t>
            </a:r>
            <a:br/>
            <a:r>
              <a:t>• risk_score: 56.5分</a:t>
            </a:r>
            <a:br/>
            <a:r>
              <a:t>• risk_level: MEDIUM</a:t>
            </a:r>
            <a:br/>
            <a:r>
              <a:t>• decision: REVIEW</a:t>
            </a:r>
            <a:br/>
            <a:r>
              <a:t>• confidence: 0.85</a:t>
            </a:r>
            <a:br/>
            <a:r>
              <a:t>• matched_rules: [R001,R003]</a:t>
            </a:r>
            <a:br/>
            <a:r>
              <a:t>• similar_cases: [3个案例]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06a  核心模块：规则引擎 (Drools)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Rule Engine with Drools 7.x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Drools规则引擎架构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2120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RuleEngineService:</a:t>
            </a:r>
            <a:br/>
            <a:r>
              <a:t>• evaluate() - 评估交易风险</a:t>
            </a:r>
            <a:br/>
            <a:r>
              <a:t>• 加载KieContainer规则容器</a:t>
            </a:r>
            <a:br/>
            <a:r>
              <a:t>• 创建KieSession执行规则</a:t>
            </a:r>
            <a:br/>
            <a:r>
              <a:t>• aggregateRuleResults() - 聚合</a:t>
            </a:r>
            <a:br/>
            <a:br/>
            <a:r>
              <a:t>规则类别:</a:t>
            </a:r>
            <a:br/>
            <a:r>
              <a:t>• 金额类规则 (R001-R008)</a:t>
            </a:r>
            <a:br/>
            <a:r>
              <a:t>• 时间行为类 (R101-R106)</a:t>
            </a:r>
            <a:br/>
            <a:r>
              <a:t>• 地域IP类 (R201-R206)</a:t>
            </a:r>
            <a:br/>
            <a:r>
              <a:t>• 设备类 (R301-R306)</a:t>
            </a:r>
            <a:br/>
            <a:r>
              <a:t>• 行为序列类 (R401-R406)</a:t>
            </a:r>
            <a:br/>
            <a:r>
              <a:t>• 反恐融资专项 (T001-T005)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关键规则示例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R001 单笔大额: 金额≥50万 → 权重30, 中风险</a:t>
            </a:r>
            <a:br/>
            <a:r>
              <a:t>R003 分散转入集中转出:</a:t>
            </a:r>
            <a:br/>
            <a:r>
              <a:t>  日转入≥10笔+转出≥30万 → 权重60, 高风险</a:t>
            </a:r>
            <a:br/>
            <a:r>
              <a:t>R101 凌晨高频:</a:t>
            </a:r>
            <a:br/>
            <a:r>
              <a:t>  00-05时≥3笔+≥5万 → 权重40, 中风险</a:t>
            </a:r>
            <a:br/>
            <a:r>
              <a:t>R203 高匿名IP: VPN/代理/Tor → 权重50, 高风险</a:t>
            </a:r>
            <a:br/>
            <a:r>
              <a:t>R302 模拟器检测: 模拟器/虚拟机 → 权重60, 高风险</a:t>
            </a:r>
            <a:br/>
            <a:r>
              <a:t>T001 制裁名单: 命中制裁名单 → 权重100, 高风险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1556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规则评分算法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108813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规则评分 = Σ(命中规则.risk_weight × 规则.risk_score) / Σ(命中规则.risk_weight) × 1.5</a:t>
            </a:r>
            <a:br/>
            <a:r>
              <a:t>综合评分 = 规则评分 × 0.35 + ML模型评分 × 0.45 + 知识库关联度 × 0.20</a:t>
            </a:r>
            <a:br/>
            <a:br/>
            <a:r>
              <a:t>示例: 命中R001(30分)+R003(60分)+R203(50分)</a:t>
            </a:r>
            <a:br/>
            <a:r>
              <a:t>  规则评分 = (30×30 + 60×60 + 50×50) / (30+60+50) × 1.5 = 75.0分</a:t>
            </a:r>
            <a:br/>
            <a:r>
              <a:t>  ML评分 = 78分, KB评分 = 0.35 → 综合 = 75×0.35 + 78×0.45 + 35×0.2 = 68.3分 → 中风险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06b  核心模块：Flink实时计算作业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Flink Real-time Computing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1556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FraudDetectionJob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8813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Kafka Input                 Flink Job                          Output       │</a:t>
            </a:r>
            <a:br/>
            <a:r>
              <a:t>│ (transaction-raw)  ──→  DataStream&lt;Transaction&gt;  ──→  Kafka/MySQL/Alert     │</a:t>
            </a:r>
            <a:br/>
            <a:r>
              <a:t>│                              │                                              │</a:t>
            </a:r>
            <a:br/>
            <a:r>
              <a:t>│   ① Watermark(10s乱序容错) + EventTime                                  │</a:t>
            </a:r>
            <a:br/>
            <a:r>
              <a:t>│   ② DataCleanFunction → 数据清洗                                       │</a:t>
            </a:r>
            <a:br/>
            <a:r>
              <a:t>│   ③ keyBy(accountIdHash) → FeatureExtractionProcess                    │</a:t>
            </a:r>
            <a:br/>
            <a:r>
              <a:t>│      • 1h窗口交易金额/笔数 | 30天设备数/城市数 | 行为偏离度              │</a:t>
            </a:r>
            <a:br/>
            <a:r>
              <a:t>│      • 并行评估: RuleEngine + ML Model + KnowledgeBase                  │</a:t>
            </a:r>
            <a:br/>
            <a:r>
              <a:t>│   ④ RiskAssessmentAggregator → 综合评分                                │</a:t>
            </a:r>
            <a:br/>
            <a:r>
              <a:t>│   ⑤ AlertGenerator → 预警生成 (score ≥ 50)                            │</a:t>
            </a:r>
            <a:br/>
            <a:r>
              <a:t>│   ⑥ Sink: Kafka + MySQL(JdbcSink批量写入)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111556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1556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5262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技术特性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92040"/>
            <a:ext cx="10881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Exactly-Once语义: Checkpoint 60s间隔，MinPauseBetweenCheckpoints 30s</a:t>
            </a:r>
            <a:br/>
            <a:r>
              <a:t>• State Backend: RocksDB (大状态） | 重启策略: fixed-delay (5次, 30s间隔)</a:t>
            </a:r>
            <a:br/>
            <a:r>
              <a:t>• 并行度: 默认4 | TaskManager 8G内存, 4 TaskSlot | JobManager 4G内存</a:t>
            </a:r>
            <a:br/>
            <a:r>
              <a:t>• 部署方式: Flink Kubernetes Operator (FlinkDeployment CRD)</a:t>
            </a:r>
            <a:br/>
            <a:r>
              <a:t>• Kafka Topic: transaction-raw(源) → transaction-assessed(输出) + alert-created(预警)</a:t>
            </a:r>
            <a:br/>
            <a:r>
              <a:t>• 性能目标: P99延迟 &lt; 500ms | 吞吐量 ≥ 5000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07  机器学习模型体系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Machine Learning Model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模型分类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有监督模型:</a:t>
            </a:r>
            <a:br/>
            <a:r>
              <a:t>• 欺诈分类模型(XGBoost)</a:t>
            </a:r>
            <a:br/>
            <a:r>
              <a:t>  二分类判断 → 欺诈概率(0-1)</a:t>
            </a:r>
            <a:br/>
            <a:r>
              <a:t>• 可疑等级模型</a:t>
            </a:r>
            <a:br/>
            <a:r>
              <a:t>  多分类 → 可疑等级(1-5)</a:t>
            </a:r>
            <a:br/>
            <a:br/>
            <a:r>
              <a:t>无监督模型:</a:t>
            </a:r>
            <a:br/>
            <a:r>
              <a:t>• 异常检测(Isolation Forest)</a:t>
            </a:r>
            <a:br/>
            <a:r>
              <a:t>• 聚类分析(客户分群)</a:t>
            </a:r>
            <a:br/>
            <a:br/>
            <a:r>
              <a:t>图网络:</a:t>
            </a:r>
            <a:br/>
            <a:r>
              <a:t>• 团伙识别模型(GNN)</a:t>
            </a:r>
            <a:br/>
            <a:r>
              <a:t>  关联欺诈检测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模型训练Pipeline</a:t>
            </a:r>
            <a:br/>
            <a:r>
              <a:t>(FraudDetectionPipeline)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2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1. load_and_preprocess()</a:t>
            </a:r>
            <a:br/>
            <a:r>
              <a:t>   加载Parquet/CSV → 特征工程</a:t>
            </a:r>
            <a:br/>
            <a:r>
              <a:t>   • 时间特征: hour_of_day, day_of_week</a:t>
            </a:r>
            <a:br/>
            <a:r>
              <a:t>   • 组合特征: amount_per_device</a:t>
            </a:r>
            <a:br/>
            <a:r>
              <a:t>   • 衍生: is_high_risk_time</a:t>
            </a:r>
            <a:br/>
            <a:br/>
            <a:r>
              <a:t>2. prepare_features()</a:t>
            </a:r>
            <a:br/>
            <a:r>
              <a:t>   类别编码 + 标准化 → NumPy</a:t>
            </a:r>
            <a:br/>
            <a:br/>
            <a:r>
              <a:t>3. train() → XGBoost</a:t>
            </a:r>
            <a:br/>
            <a:r>
              <a:t>   500棵树, max_depth=8</a:t>
            </a:r>
            <a:br/>
            <a:r>
              <a:t>   lr=0.05, early_stop=50</a:t>
            </a:r>
            <a:br/>
            <a:r>
              <a:t>   scale_pos_weight=30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2D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DA04F"/>
                </a:solidFill>
                <a:latin typeface="Microsoft YaHei"/>
              </a:defRPr>
            </a:pPr>
            <a:r>
              <a:t>模型评估与部署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评估指标:</a:t>
            </a:r>
            <a:br/>
            <a:r>
              <a:t>• AUC ≥ 0.92</a:t>
            </a:r>
            <a:br/>
            <a:r>
              <a:t>• 召回率 ≥ 0.90</a:t>
            </a:r>
            <a:br/>
            <a:r>
              <a:t>• 精确率 ≥ 0.85</a:t>
            </a:r>
            <a:br/>
            <a:br/>
            <a:r>
              <a:t>CI/CD流水线:</a:t>
            </a:r>
            <a:br/>
            <a:r>
              <a:t>test → train → evaluate → deploy</a:t>
            </a:r>
            <a:br/>
            <a:br/>
            <a:r>
              <a:t>部署方式:</a:t>
            </a:r>
            <a:br/>
            <a:r>
              <a:t>TensorFlow Serving (GPU)</a:t>
            </a:r>
            <a:br/>
            <a:r>
              <a:t>• 2副本, 4C8G + GPU</a:t>
            </a:r>
            <a:br/>
            <a:r>
              <a:t>• REST API (8501) + gRPC (8500)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155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模型可解释性 &amp; 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108813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SHAP值输出: 每个特征对预测结果的贡献度</a:t>
            </a:r>
            <a:br/>
            <a:r>
              <a:t>• 模型漂移监控: |当前准确率 - 7日均值| &gt; 5% → P0告警</a:t>
            </a:r>
            <a:br/>
            <a:r>
              <a:t>• MLflow实验管理: 训练参数/指标/模型版本追踪</a:t>
            </a:r>
            <a:br/>
            <a:r>
              <a:t>• 灰度发布: 新模型 → 10%流量 → 观察30min → 全量</a:t>
            </a:r>
            <a:br/>
            <a:r>
              <a:t>• 模型回滚: kubectl set image deployment/ml-serving → 上一版本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08  API接口设计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OpenAPI 3.0 REST API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接口路径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智能体评估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POST /api/v1/agent/assess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交易风险评估 (融合知识库+规则+ML) → 返回风险评分/等级/决策/溯源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智能体问答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POST /api/v1/agent/query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风控知识问答 (自然语言) → 返回答案+相似案例+相关规则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知识库检索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POST /api/v1/knowledge/search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全文检索/向量检索 (规则/案例/黑名单) → Top-K结果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交易评分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POST /api/v1/transaction/assess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基础交易风险评分 (不含智能体) → 风险评分+因子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预警列表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GET /api/v1/alert/list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预警列表查询 (状态/等级/分页)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预警处理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POST /api/v1/alert/{id}/process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预警处置 (分配/处理/关闭/升级)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389120"/>
            <a:ext cx="111556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接口特性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92040"/>
            <a:ext cx="10881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认证方式: API Key + 数字证书 + 双向SSL</a:t>
            </a:r>
            <a:br/>
            <a:r>
              <a:t>• 传输加密: HTTPS/TLS 1.2+, 端到端加密</a:t>
            </a:r>
            <a:br/>
            <a:r>
              <a:t>• 限流策略: 令牌桶算法, 1000 req/s per API Key</a:t>
            </a:r>
            <a:br/>
            <a:r>
              <a:t>• 协议格式: JSON (Content-Type: application/json)</a:t>
            </a:r>
            <a:br/>
            <a:r>
              <a:t>• 错误码规范: 200/400/429/503 + 统一ErrorResponse</a:t>
            </a:r>
            <a:br/>
            <a:r>
              <a:t>• 文档: Swagger UI + OpenAPI 3.0 YAML</a:t>
            </a:r>
            <a:br/>
            <a:r>
              <a:t>• gRPC服务: anti-fraud-agent:9090 (内部高性能调用)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09  数据库架构设计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Database Architecture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关键字段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transaction_record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交易记录表 (核心)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transaction_id, account_id_hash, amount,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transaction_type, risk_score, risk_level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customer_profile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客户风险画像表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customer_id, risk_level, behavior_baseline,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device_count_30d, city_count_30d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alert_record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预警记录表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alert_id, transaction_id, alert_type,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matched_rules_json, ml_score, agent_decision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blacklist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黑名单表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entity_name, list_type, match_type,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risk_level, source, effective/expiry_date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fraud_case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欺诈案例库表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case_title, modus_operandi, detection_rules,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key_features, resolution (全文索引)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suspicious_report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可疑交易报告表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report_id, report_type(STR/CTR), </a:t>
                      </a:r>
                    </a:p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report_content(JSON), report_status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046720" y="13716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474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8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数据存储分层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874520"/>
            <a:ext cx="3200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热数据 (实时查询):</a:t>
            </a:r>
            <a:br/>
            <a:r>
              <a:t>• Redis Cluster (特征/缓存)</a:t>
            </a:r>
            <a:br/>
            <a:r>
              <a:t>• MySQL 8.0/PolarDB (主从)</a:t>
            </a:r>
            <a:br/>
            <a:br/>
            <a:r>
              <a:t>温数据 (分析查询):</a:t>
            </a:r>
            <a:br/>
            <a:r>
              <a:t>• ClickHouse (OLAP, 分区表)</a:t>
            </a:r>
            <a:br/>
            <a:r>
              <a:t>• Elasticsearch (日志/搜索)</a:t>
            </a:r>
            <a:br/>
            <a:br/>
            <a:r>
              <a:t>冷数据 (离线计算):</a:t>
            </a:r>
            <a:br/>
            <a:r>
              <a:t>• Hive + Spark (特征仓库)</a:t>
            </a:r>
            <a:br/>
            <a:br/>
            <a:r>
              <a:t>向量数据:</a:t>
            </a:r>
            <a:br/>
            <a:r>
              <a:t>• FAISS (本地) / Milvus (企业级)</a:t>
            </a:r>
            <a:br/>
            <a:br/>
            <a:r>
              <a:t>图存储:</a:t>
            </a:r>
            <a:br/>
            <a:r>
              <a:t>• Neo4j (关系图谱)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1556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1556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983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数据保留策略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492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原始数据: 10年 (HDFS/Kafka) | 清洗后数据: 10年 (Hive/ClickHouse)</a:t>
            </a:r>
            <a:br/>
            <a:r>
              <a:t>• 特征数据: 3年 (Redis/FeatureStore) | 知识库: 永久 (MySQL/ES) | 名单数据: 永久版本化</a:t>
            </a:r>
            <a:br/>
            <a:r>
              <a:t>• 预警/案例/报告: 7年 | 系统日志: 7年 (ES) | 备份: 实时增量+每日全量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10  安全架构设计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Security Architecture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安全防护体系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网络安全层:</a:t>
            </a:r>
            <a:br/>
            <a:r>
              <a:t>• 防火墙 + WAF + DDoS防护</a:t>
            </a:r>
            <a:br/>
            <a:r>
              <a:t>• VPN安全接入</a:t>
            </a:r>
            <a:br/>
            <a:br/>
            <a:r>
              <a:t>应用安全层:</a:t>
            </a:r>
            <a:br/>
            <a:r>
              <a:t>• 多因素认证 (MFA)</a:t>
            </a:r>
            <a:br/>
            <a:r>
              <a:t>• RBAC角色权限控制</a:t>
            </a:r>
            <a:br/>
            <a:r>
              <a:t>• 安全审计 + 漏洞扫描</a:t>
            </a:r>
            <a:br/>
            <a:br/>
            <a:r>
              <a:t>数据安全层:</a:t>
            </a:r>
            <a:br/>
            <a:r>
              <a:t>• AES-256加密存储</a:t>
            </a:r>
            <a:br/>
            <a:r>
              <a:t>• 敏感数据脱敏处理</a:t>
            </a:r>
            <a:br/>
            <a:r>
              <a:t>• 数据备份 + 数据水印</a:t>
            </a:r>
            <a:br/>
            <a:r>
              <a:t>• 数据传输: HTTPS/TLS 1.2+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隐私保护 &amp; 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个人信息最小化收集</a:t>
            </a:r>
            <a:br/>
            <a:r>
              <a:t>• 数据仅用于反欺诈/反恐融资目的</a:t>
            </a:r>
            <a:br/>
            <a:r>
              <a:t>• 客户知情同意</a:t>
            </a:r>
            <a:br/>
            <a:r>
              <a:t>• 敏感信息访问需审批+记录日志</a:t>
            </a:r>
            <a:br/>
            <a:r>
              <a:t>• 超期数据安全删除</a:t>
            </a:r>
            <a:br/>
            <a:br/>
            <a:r>
              <a:t>监管合规:</a:t>
            </a:r>
            <a:br/>
            <a:r>
              <a:t>• FATF 40项建议</a:t>
            </a:r>
            <a:br/>
            <a:r>
              <a:t>• 人行《大额/可疑交易报告管理办法》</a:t>
            </a:r>
            <a:br/>
            <a:r>
              <a:t>• GB/T 35273-2020 个人信息安全规范</a:t>
            </a:r>
            <a:br/>
            <a:r>
              <a:t>• ISO 27001 信息安全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155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数据脱敏规则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108813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字段类型      | 脱敏规则               | 示例</a:t>
            </a:r>
            <a:br/>
            <a:r>
              <a:t>手机号        | 中间4位 → ****         | 138****5678</a:t>
            </a:r>
            <a:br/>
            <a:r>
              <a:t>身份证号      | 中间8位 → ********     | 110101********1234</a:t>
            </a:r>
            <a:br/>
            <a:r>
              <a:t>银行卡号      | 中间数字 → ****        | 6222****8901</a:t>
            </a:r>
            <a:br/>
            <a:r>
              <a:t>客户姓名      | SHA-256哈希存储       | a3f5b2c1d4...</a:t>
            </a:r>
            <a:br/>
            <a:r>
              <a:t>GPS坐标       | 精度降至0.01°          | 39.90, 116.40</a:t>
            </a:r>
            <a:br/>
            <a:br/>
            <a:r>
              <a:t>知识库安全: 访问控制 + 脱敏展示 + 审计日志 + 权限隔离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11  部署架构（Kubernetes + Docker）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Deployment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生产环境K8S集群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2120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Master节点: 3台 (8C/16G)</a:t>
            </a:r>
            <a:br/>
            <a:r>
              <a:t>Worker节点: 10台 (16C/32G/200G)</a:t>
            </a:r>
            <a:br/>
            <a:br/>
            <a:r>
              <a:t>核心服务Deployment:</a:t>
            </a:r>
            <a:br/>
            <a:r>
              <a:t>• AI智能体: 2副本 × 4C/8G</a:t>
            </a:r>
            <a:br/>
            <a:r>
              <a:t>• 风险评估: 4-8副本 × 4C/8G</a:t>
            </a:r>
            <a:br/>
            <a:r>
              <a:t>• Flink作业: 4-8 JobManager + TaskManager</a:t>
            </a:r>
            <a:br/>
            <a:r>
              <a:t>• ML推理: 2副本 × 4C/8G + GPU</a:t>
            </a:r>
            <a:br/>
            <a:r>
              <a:t>• MySQL集群: 1主2从 (16C/64G/500G)</a:t>
            </a:r>
            <a:br/>
            <a:r>
              <a:t>• Redis集群: 3节点 (8C/16G)</a:t>
            </a:r>
            <a:br/>
            <a:r>
              <a:t>• Kafka集群: 3节点 (8C/16G/1T)</a:t>
            </a:r>
            <a:br/>
            <a:r>
              <a:t>• Milvus向量库: 2副本 (8C/16G)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Docker Compose</a:t>
            </a:r>
            <a:br/>
            <a:r>
              <a:t>(轻量级/开发环境)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5029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服务清单:</a:t>
            </a:r>
            <a:br/>
            <a:r>
              <a:t>• anti-fraud-agent (8080/19090)</a:t>
            </a:r>
            <a:br/>
            <a:r>
              <a:t>• mysql:8.0 (3306)</a:t>
            </a:r>
            <a:br/>
            <a:r>
              <a:t>• redis:7-alpine (6379)</a:t>
            </a:r>
            <a:br/>
            <a:r>
              <a:t>• zookeeper + kafka (2181/9092)</a:t>
            </a:r>
            <a:br/>
            <a:r>
              <a:t>• prometheus (9090) + grafana (3000)</a:t>
            </a:r>
            <a:br/>
            <a:br/>
            <a:r>
              <a:t>一键部署:</a:t>
            </a:r>
            <a:br/>
            <a:r>
              <a:t>docker compose up -d --build</a:t>
            </a:r>
            <a:br/>
            <a:br/>
            <a:r>
              <a:t>配置文件: docker-compose.yml</a:t>
            </a:r>
            <a:br/>
            <a:r>
              <a:t>健康检查: depends_on + healthcheck</a:t>
            </a:r>
            <a:br/>
            <a:r>
              <a:t>重启策略: unless-stopped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155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环境规划 &amp; 发布策略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108813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┌──────────┬──────────┬──────────┬──────────┬──────────┐</a:t>
            </a:r>
            <a:br/>
            <a:r>
              <a:t>│ 开发环境 │ 测试环境 │ UAT环境  │ 生产环境 │ 灾备环境 │</a:t>
            </a:r>
            <a:br/>
            <a:r>
              <a:t>│ 2节点    │ 3节点    │ 50%生产  │ 5+节点   │ =生产配  │</a:t>
            </a:r>
            <a:br/>
            <a:r>
              <a:t>│ 8C16G×2  │ 8C16G×3  │ K8S      │ K8S      │ 异地机房 │</a:t>
            </a:r>
            <a:br/>
            <a:r>
              <a:t>└──────────┴──────────┴──────────┴──────────┴──────────┘</a:t>
            </a:r>
            <a:br/>
            <a:br/>
            <a:r>
              <a:t>发布流程: Git Push → CI/CD Pipeline → Docker Build → K8S Rolling Update (maxSurge=1, maxUnavailable=0)</a:t>
            </a:r>
            <a:br/>
            <a:r>
              <a:t>灰度策略: 新版本先10%流量 → 观察30分钟 → 逐步放量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11b  高可用与容灾设计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High Availability &amp; Disaster Recovery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故障场景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检测方式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切换策略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RTO目标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服务实例故障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自动重启/重新调度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&lt;30秒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可用区故障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区域探测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自动切换其他可用区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&lt;5分钟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数据库故障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主从心跳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自动主从切换(MySQL)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&lt;2分钟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向量库故障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健康检查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切换到备库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&lt;1分钟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Kafka故障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ISR检测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Leader自动选举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&lt;10秒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0" y="1371600"/>
          <a:ext cx="3474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备份频率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保留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核心业务数据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实时增量+每日全量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交易数据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每小时增量+每日全量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知识库数据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变更时备份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永久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向量索引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每日备份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30天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系统日志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实时采集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06240"/>
            <a:ext cx="11155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343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容灾策略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09160"/>
            <a:ext cx="108813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RTO (恢复时间目标) ≤ 4小时 | RPO (数据恢复点) ≤ 1小时</a:t>
            </a:r>
            <a:br/>
            <a:r>
              <a:t>• 多可用区部署: 3 AZ × 2 数据中心 (同城双活 + 异地灾备)</a:t>
            </a:r>
            <a:br/>
            <a:r>
              <a:t>• 数据库: 主从同步 + 自动Failover (MySQL Group Replication / PolarDB)</a:t>
            </a:r>
            <a:br/>
            <a:r>
              <a:t>• Kafka: 跨AZ ISR副本 + 日志保留7天</a:t>
            </a:r>
            <a:br/>
            <a:r>
              <a:t>• K8S: PodDisruptionBudget + NodeAntiAffinity + 跨AZ分布</a:t>
            </a:r>
            <a:br/>
            <a:r>
              <a:t>• 定期演练: 每季度全链路故障切换演习 | 年度灾备切换演习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12  监控运维与告警体系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Monitoring &amp; Alerting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监控体系 (Prometheus + Grafana)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基础设施监控:</a:t>
            </a:r>
            <a:br/>
            <a:r>
              <a:t>• CPU/内存/磁盘/网络</a:t>
            </a:r>
            <a:br/>
            <a:r>
              <a:t>• 容器状态 / K8S集群</a:t>
            </a:r>
            <a:br/>
            <a:br/>
            <a:r>
              <a:t>应用APM:</a:t>
            </a:r>
            <a:br/>
            <a:r>
              <a:t>• 请求量/响应时间/错误率</a:t>
            </a:r>
            <a:br/>
            <a:r>
              <a:t>• 链路追踪 (Jaeger/SkyWalking)</a:t>
            </a:r>
            <a:br/>
            <a:br/>
            <a:r>
              <a:t>业务监控:</a:t>
            </a:r>
            <a:br/>
            <a:r>
              <a:t>• 预警数量/处理时效</a:t>
            </a:r>
            <a:br/>
            <a:r>
              <a:t>• 模型效果/知识检索/决策分布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657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Grafana核心看板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2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交易处理TPS + QPS</a:t>
            </a:r>
            <a:br/>
            <a:r>
              <a:t>• 风险等级分布饼图</a:t>
            </a:r>
            <a:br/>
            <a:r>
              <a:t>  HIGH/MEDIUM/LOW</a:t>
            </a:r>
            <a:br/>
            <a:r>
              <a:t>• P99响应延迟折线图</a:t>
            </a:r>
            <a:br/>
            <a:r>
              <a:t>• 预警处理时效</a:t>
            </a:r>
            <a:br/>
            <a:r>
              <a:t>• 智能体决策分布</a:t>
            </a:r>
            <a:br/>
            <a:r>
              <a:t>  PASS/REVIEW/BLOCK</a:t>
            </a:r>
            <a:br/>
            <a:r>
              <a:t>• 规则命中TOP10</a:t>
            </a:r>
            <a:br/>
            <a:r>
              <a:t>• 模型准确率/召回率趋势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383280" cy="54864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Microsoft YaHei"/>
              </a:defRPr>
            </a:pPr>
            <a:r>
              <a:t>告警级别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2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P1 紧急:</a:t>
            </a:r>
            <a:br/>
            <a:r>
              <a:t>  系统不可用 → 电话+短信+邮件</a:t>
            </a:r>
            <a:br/>
            <a:r>
              <a:t>  响应: ≤15分钟</a:t>
            </a:r>
            <a:br/>
            <a:br/>
            <a:r>
              <a:t>P2 严重:</a:t>
            </a:r>
            <a:br/>
            <a:r>
              <a:t>  性能严重下降 → 短信+邮件</a:t>
            </a:r>
            <a:br/>
            <a:r>
              <a:t>  响应: ≤30分钟</a:t>
            </a:r>
            <a:br/>
            <a:br/>
            <a:r>
              <a:t>P3 警告:</a:t>
            </a:r>
            <a:br/>
            <a:r>
              <a:t>  指标异常 → 邮件</a:t>
            </a:r>
            <a:br/>
            <a:r>
              <a:t>  响应: ≤2小时</a:t>
            </a:r>
            <a:br/>
            <a:br/>
            <a:r>
              <a:t>P4 提示:</a:t>
            </a:r>
            <a:br/>
            <a:r>
              <a:t>  容量预警 → 企业微信</a:t>
            </a:r>
            <a:br/>
            <a:r>
              <a:t>  工作时间处理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1556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1556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69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关键告警规则 (Prometheus)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10881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• ServiceDown: up{job=~"ai-agent|risk-assessment"} == 0 → critical, 30s</a:t>
            </a:r>
            <a:br/>
            <a:r>
              <a:t>• HighTransactionLatency: P99 &gt; 500ms → warning, 1m</a:t>
            </a:r>
            <a:br/>
            <a:r>
              <a:t>• AlertBacklog: 未处理预警 &gt; 100 → warning, 5m</a:t>
            </a:r>
            <a:br/>
            <a:r>
              <a:t>• HighBlockRate: 阻断率 &gt; 15% → warning, 5m</a:t>
            </a:r>
            <a:br/>
            <a:r>
              <a:t>• KnowledgeSearchSlow: 知识检索P99 &gt; 2s → warning, 1m</a:t>
            </a:r>
            <a:br/>
            <a:r>
              <a:t>• ModelDriftDetected: |accuracy - avg_7d| &gt; 5% → critical, 10m</a:t>
            </a:r>
            <a:br/>
            <a:r>
              <a:t>• KafkaConsumerLag: lag &gt; 10000条 → warning, 5m</a:t>
            </a:r>
            <a:br/>
            <a:r>
              <a:t>• RuleEngineErrors: 规则引擎错误率 &gt; 1% → critical, 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13  技术栈总览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Technology Stack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组件类别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Spring Cloud Alibaba 2021.0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微服务治理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实时计算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Apache Flink 1.16+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流式计算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离线计算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Apache Spark 3.3+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批量计算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消息队列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Apache Kafka 3.x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异步解耦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MySQL 8.0 / PolarDB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主从架构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OLAP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ClickHouse 22.x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高性能分析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缓存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Redis Cluster 6.x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高并发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Elasticsearch 7.x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日志/搜索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向量库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FAISS 1.7 / Milvus 2.x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知识向量检索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图数据库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Neo4j 5.x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关系图谱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规则引擎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Drools 7.70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业务规则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ML框架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XGBoost / TensorFlow 2.x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模型训练/推理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AI智能体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LangChain / LlamaIndex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RAG检索增强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容器化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Docker + K8s 1.24+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编排部署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监控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Prometheus + Grafana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可观测性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371600"/>
            <a:ext cx="393192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39319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技术特性总结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87452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■ 高性能</a:t>
            </a:r>
            <a:br/>
            <a:r>
              <a:t>  5000+ TPS, P99 &lt; 500ms</a:t>
            </a:r>
            <a:br/>
            <a:r>
              <a:t>  AI决策 &lt; 250ms</a:t>
            </a:r>
            <a:br/>
            <a:br/>
            <a:r>
              <a:t>■ 高可用</a:t>
            </a:r>
            <a:br/>
            <a:r>
              <a:t>  99.9%可用性</a:t>
            </a:r>
            <a:br/>
            <a:r>
              <a:t>  自动故障切换 &lt; 5min</a:t>
            </a:r>
            <a:br/>
            <a:br/>
            <a:r>
              <a:t>■ 可扩展</a:t>
            </a:r>
            <a:br/>
            <a:r>
              <a:t>  水平扩展K8S Pod</a:t>
            </a:r>
            <a:br/>
            <a:r>
              <a:t>  规则≥10000条</a:t>
            </a:r>
            <a:br/>
            <a:br/>
            <a:r>
              <a:t>■ 可解释</a:t>
            </a:r>
            <a:br/>
            <a:r>
              <a:t>  SHAP特征贡献分析</a:t>
            </a:r>
            <a:br/>
            <a:r>
              <a:t>  规则命中溯源</a:t>
            </a:r>
            <a:br/>
            <a:br/>
            <a:r>
              <a:t>■ 安全性</a:t>
            </a:r>
            <a:br/>
            <a:r>
              <a:t>  AES-256 + MFA + RBAC</a:t>
            </a:r>
            <a:br/>
            <a:r>
              <a:t>  全链路HTTPS/TLS</a:t>
            </a:r>
            <a:br/>
            <a:br/>
            <a:r>
              <a:t>■ 合规性</a:t>
            </a:r>
            <a:br/>
            <a:r>
              <a:t>  FATF / 人行 / 银保监会</a:t>
            </a:r>
            <a:br/>
            <a:r>
              <a:t>  GB/T 35273-2020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14  生产环境部署清单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Production Deployment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实例数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CPU/内存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磁盘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K8S Master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K8S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16C 32G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Flink计算节点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Spark计算节点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MySQL集群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16C 64G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500G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Redis集群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ClickHouse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16C 32G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Kafka集群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Elasticsearch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16C 32G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FAISS/Milvus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业务微服务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4C 8G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50G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ML Serving (GPU)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8C 16G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AI智能体服务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4C 8G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50G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04672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474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8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快速部署指南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87452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Docker Compose (开发/测试):</a:t>
            </a:r>
            <a:br/>
            <a:r>
              <a:t>  cd anti-fraud-system</a:t>
            </a:r>
            <a:br/>
            <a:r>
              <a:t>  git pull</a:t>
            </a:r>
            <a:br/>
            <a:r>
              <a:t>  docker compose -f \</a:t>
            </a:r>
            <a:br/>
            <a:r>
              <a:t>    anti-fraud-deployment/\</a:t>
            </a:r>
            <a:br/>
            <a:r>
              <a:t>    docker-compose.yml \</a:t>
            </a:r>
            <a:br/>
            <a:r>
              <a:t>    up -d --build</a:t>
            </a:r>
            <a:br/>
            <a:br/>
            <a:r>
              <a:t>Kubernetes (生产):</a:t>
            </a:r>
            <a:br/>
            <a:r>
              <a:t>  kubectl apply -f \</a:t>
            </a:r>
            <a:br/>
            <a:r>
              <a:t>    anti-fraud-deployment/k8s/</a:t>
            </a:r>
            <a:br/>
            <a:br/>
            <a:r>
              <a:t>验证:</a:t>
            </a:r>
            <a:br/>
            <a:r>
              <a:t>  curl -X POST \</a:t>
            </a:r>
            <a:br/>
            <a:r>
              <a:t>    http://localhost:8080/\</a:t>
            </a:r>
            <a:br/>
            <a:r>
              <a:t>    api/v1/agent/assess \</a:t>
            </a:r>
            <a:br/>
            <a:r>
              <a:t>    -H 'Content-Type: application/json' \</a:t>
            </a:r>
            <a:br/>
            <a:r>
              <a:t>    -d '{...}'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交易评估实例演示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一个典型可疑交易的端到端智能体评估过程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20/27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5029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📋 交易基本信息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交易ID: TX2026050412345678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交易金额: ¥580,000.00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交易类型: 转账 (TRANSFER)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渠道: 手机银行 (MBANK)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交易时间: 2026-05-04 02:35:18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发起方: 账户 A (个人)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接收方: 账户 B (企业)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IP地址: 185.220.xxx.xxx (Tor)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设备: 新设备首次绑定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地理位置: 境外 → 境内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交易附言: "咨询费"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23774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🔍 Step 1: 规则引擎匹配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R001 单笔大额交易 (≥50万) → 权重30, 触发 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R203 高匿名IP交易 (Tor) → 权重50, 触发 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R301 新设备首次交易(≥1万) → 权重30, 触发 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R101 凌晨交易 (02:35) → 权重40, 触发 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R401 跨省急速交易 → 权重45, 触发 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规则评分: 78分 (5条规则命中)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657600" cy="2468880"/>
          </a:xfrm>
          <a:prstGeom prst="round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0050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🤖 Step 2-3: ML模型 + RAG检索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315968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ML模型 (XGBoost):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欺诈概率: 0.89 → ML评分: 89分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主要特征: 金额偏离度=12σ, 时差=境外凌晨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RAG检索 (Milvus向量库):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Top-3 相似案例 [相似度 0.87, 0.83, 0.79]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案例#42: 假冒咨询费洗钱案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案例#108: Tor网络跨境转移资金案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474720" cy="5029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4447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✅ 最终决策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55648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综合评分 = 0.35×78 + 0.45×89 + 0.20×85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     = 27.3 + 40.1 + 17.0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     = 84.4 分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风险等级: 🔴 高风险 (80-100)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决策: 🚫 阻断交易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置信度: 0.93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━━━━━━━━━━━━━━━━━━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处置建议: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立即暂停该交易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冻结账户A待调查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关联分析账户B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上报合规部门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生成STR报告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处理时限: ≤24小时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智能体决策流程详解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从请求接收 → 上下文构建 → RAG检索 → 规则引擎 → ML推理 → 综合决策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21/27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828800" cy="1463040"/>
          </a:xfrm>
          <a:prstGeom prst="round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请求接收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Kafka消息</a:t>
            </a:r>
            <a:br/>
            <a:r>
              <a:t>交易流水解析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920240"/>
            <a:ext cx="2743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14600" y="1371600"/>
            <a:ext cx="1828800" cy="146304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上下文构建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客户画像+历史</a:t>
            </a:r>
            <a:br/>
            <a:r>
              <a:t>+实时特征聚合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61688" y="1920240"/>
            <a:ext cx="2743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1371600"/>
            <a:ext cx="1828800" cy="146304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RAG知识检索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向量检索相似案例</a:t>
            </a:r>
            <a:br/>
            <a:r>
              <a:t>全文检索规则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10528" y="1920240"/>
            <a:ext cx="2743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12280" y="1371600"/>
            <a:ext cx="1828800" cy="146304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规则引擎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Drools 300+规则</a:t>
            </a:r>
            <a:br/>
            <a:r>
              <a:t>并行匹配执行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9368" y="1920240"/>
            <a:ext cx="2743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1828800" cy="146304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ML模型推理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XGBoost欺诈分类</a:t>
            </a:r>
            <a:br/>
            <a:r>
              <a:t>TensorFlow异常检测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808208" y="1920240"/>
            <a:ext cx="2743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109960" y="1371600"/>
            <a:ext cx="1828800" cy="1463040"/>
          </a:xfrm>
          <a:prstGeom prst="round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6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综合决策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加权融合评分</a:t>
            </a:r>
            <a:br/>
            <a:r>
              <a:t>生成决策+解释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3474720" cy="137160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2735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⏱️ 各阶段延迟 (P99)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8444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请求接收:      ≤ 10ms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上下文构建:   ≤ 50ms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RAG知识检索: ≤ 2000ms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规则引擎:       ≤ 100ms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ML模型推理:   ≤ 200ms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综合决策:       ≤ 50ms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━━━━━━━━━━━━━━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端到端延迟:    ≤ 2500ms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200400"/>
            <a:ext cx="36576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32735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📊 综合评分权重分配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5844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规则引擎评分 (Drools):    35%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ML模型评分 (XGBoost):      45%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知识库相关性 (RAG):         20%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评分阈值: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≥80分 → 高风险 → 阻断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50-79分 → 中风险 → 审核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&lt;50分 → 低风险 → 放行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00400"/>
            <a:ext cx="3657600" cy="13716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2735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🛡️ 安全决策机制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5844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制裁名单命中 → 直接阻断 (权重100)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高危规则×3 → 提升至高风险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异常检测分数 &gt; 0.85 → 强制审核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置信度 &lt; 0.6 → 降级人工处理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高频交易脉冲 → 临时限流观察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风险等级体系与处置策略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四级风险等级定义、处置要求及响应时限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22/27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🔴 高风险  80-100分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处置: 立即预警</a:t>
            </a:r>
            <a:br/>
            <a:r>
              <a:t>人工审核</a:t>
            </a:r>
            <a:br/>
            <a:r>
              <a:t>暂停交易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响应: ≤24小时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智能体建议: 阻断/审核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44475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🟠 中高风险  65-79分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5564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处置: 预警</a:t>
            </a:r>
            <a:br/>
            <a:r>
              <a:t>跟踪关注</a:t>
            </a:r>
            <a:br/>
            <a:r>
              <a:t>人工复核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响应: ≤48小时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智能体建议: 人工审核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🟡 中风险  50-64分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5564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处置: 预警</a:t>
            </a:r>
            <a:br/>
            <a:r>
              <a:t>观察跟踪</a:t>
            </a:r>
            <a:br/>
            <a:r>
              <a:t>定期复核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响应: ≤72小时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智能体建议: 人工审核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9748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444752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🟢 低风险  0-49分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5564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处置: 记录存档</a:t>
            </a:r>
            <a:br/>
            <a:r>
              <a:t>持续监控</a:t>
            </a:r>
            <a:br/>
            <a:r>
              <a:t>自动放行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响应: 定期复核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智能体建议: 放行/标记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5760720" cy="237744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27939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可疑交易类型分类 (STR)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90288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STR01  疑似洗钱      ─ 交易模式符合洗钱特征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STR02  疑似恐怖融资  ─ 与恐怖活动相关资金往来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STR03  疑似欺诈      ─ 账户盗用、虚假交易等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STR04  疑似逃税      ─ 避税、偷逃税款相关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STR05  疑似赌博      ─ 博彩相关资金往来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STR06  疑似走私      ─ 涉及进出口违规资金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STR07  疑似贪污贿赂  ─ 贪腐、贿赂相关资金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STR99  其他可疑      ─ 其他需要关注的情形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206240"/>
            <a:ext cx="5303520" cy="23774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2793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告警升级机制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59028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Level 0: 初始预警 → 分配给风控专员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Level 1: 30分钟未响应 → 升级至风控组长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Level 2: 2小时未处理 → 升级至风控经理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Level 3: 24小时未处理 → 升级至合规总监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特殊升级条件: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涉敏金额 ≥ 500万元 → 直接 Level 2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涉制裁名单 → 直接 Level 3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集体账户关联 → Level 2 + 批量警报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通知渠道: 系统告警 → 邮件 → 短信 → 电话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业务规则全景图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6大类 30+ 条风控规则覆盖全部风险场景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23/27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F8A"/>
                </a:solidFill>
              </a:defRPr>
            </a:pPr>
            <a:r>
              <a:t>金额类规则 (R0xx)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R001 单笔大额 ≥ 50万 → 权重30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R002 日累计 ≥ 100万 → 权重40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R003 分散转入集中转出 → 权重60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R005 快进快出(5分钟) → 权重45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R007 小额试探后大额 → 权重50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R008 跨账户循环交易 → 权重70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时间行为类 (R1xx)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5564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R101 凌晨高频交易 → 权重40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R103 异常时间登录交易 → 权重50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R105 节假日异常交易 → 权重35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R106 交易脉冲 (10min≥5笔) → 权重55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49039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8221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E44AD"/>
                </a:solidFill>
              </a:defRPr>
            </a:pPr>
            <a:r>
              <a:t>地域IP类 (R2xx)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3308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R201 跨省急速交易 → 权重45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R202 跨境高风险国家 → 权重60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R203 高匿名IP (VPN/Tor) → 权重50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R205 多IP切换交易 → 权重40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R206 高风险制裁地区 → 权重70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749039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8221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085"/>
                </a:solidFill>
              </a:defRPr>
            </a:pPr>
            <a:r>
              <a:t>设备类 (R3xx)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13308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R301 新设备首次交易 → 权重30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R302 模拟器/虚拟机 → 权重60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R303 多账户同设备 → 权重50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R305 ROOT/越狱设备 → 权重45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R306 频繁换设备(30天≥5) → 权重40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371600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540A"/>
                </a:solidFill>
              </a:defRPr>
            </a:pPr>
            <a:r>
              <a:t>行为序列类 (R4xx)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R401 注册即交易(≤24h) → 权重55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R403 信息变更后交易(≤30min) → 权重50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R405 挂失补办即大额交易 → 权重65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R406 批量开户集中交易 → 权重75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749039"/>
            <a:ext cx="3566160" cy="21031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38221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反恐融资专项 (T0xx)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133087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T001 制裁名单命中 → 权重100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T002 高风险行业交易 → 权重55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T003 小额高频跨境汇入 → 权重60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T004 无合理来源资金 → 权重70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T005 涉及战乱国家 → 权重75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数据清洗治理流水线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五阶段数据处理确保数据质量，支撑精准风控决策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24/27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945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F8A"/>
                </a:solidFill>
              </a:defRPr>
            </a:pPr>
            <a:r>
              <a:t>Phase 1: 去重去噪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主键去重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时间窗口去重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测试数据识别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异常格式过滤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2286000"/>
            <a:ext cx="1828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1371600"/>
            <a:ext cx="21945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4447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Phase 2: 格式统一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7556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时间ISO8601标准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地域国标编码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金额元为单位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币种三字码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2286000"/>
            <a:ext cx="1828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945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4447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E44AD"/>
                </a:solidFill>
              </a:defRPr>
            </a:pPr>
            <a:r>
              <a:t>Phase 3: 脱敏处理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7556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手机号: 138****5678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身份证: 110101********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银行卡: 6222****7890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SHA-256哈希存储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15200" y="2286000"/>
            <a:ext cx="1828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80" y="1371600"/>
            <a:ext cx="21945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4447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Phase 4: 异常过滤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7556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极端大额(&gt;1000万)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毫秒级请求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空值/缺失填充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99分位截断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92640" y="2286000"/>
            <a:ext cx="1828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21945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4447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Phase 5: 特征聚合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17556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1h/24h交易统计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30d行为基线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设备/城市计数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偏离度计算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43891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处理类型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处理规则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输出标准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处理方式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去重规则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基于交易流水号去重，保留最新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无重复记录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Flink Deduplicate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测试过滤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过滤测试账号(手机号前三位199/198)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无测试数据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规则过滤器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时间标准化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统一ISO8601格式(UTC+8)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时间格式统一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格式转换UDF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脱敏规则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手机号中间4位,身份证中间8位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敏感信息脱敏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加密UDF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异常过滤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过滤单笔&gt;1000万或&lt;0.01元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无异常数据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阈值过滤器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ML模型训练Pipeline与CI/CD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XGBoost欺诈检测模型的全生命周期管理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25/27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031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数据加载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Parquet/CSV</a:t>
            </a:r>
            <a:br/>
            <a:r>
              <a:t>特征工程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1828800"/>
            <a:ext cx="228600" cy="32004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1031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训练/验证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XGBoost 500棵树</a:t>
            </a:r>
            <a:br/>
            <a:r>
              <a:t>max_depth=8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83480" y="1828800"/>
            <a:ext cx="228600" cy="32004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21031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评估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AUC≥0.92</a:t>
            </a:r>
            <a:br/>
            <a:r>
              <a:t>准确率≥95%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52360" y="1828800"/>
            <a:ext cx="228600" cy="32004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1371600"/>
            <a:ext cx="21031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打包注册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MLflow模型仓库</a:t>
            </a:r>
            <a:br/>
            <a:r>
              <a:t>版本管理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21240" y="1828800"/>
            <a:ext cx="228600" cy="32004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1371600"/>
            <a:ext cx="21031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D6EAF8"/>
                </a:solidFill>
              </a:defRPr>
            </a:pPr>
            <a:r>
              <a:t>Step 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部署上线</a:t>
            </a:r>
          </a:p>
          <a:p>
            <a:pPr algn="ctr">
              <a:defRPr sz="800">
                <a:solidFill>
                  <a:srgbClr val="D6EAF8"/>
                </a:solidFill>
              </a:defRPr>
            </a:pPr>
            <a:r>
              <a:t>TF Serving</a:t>
            </a:r>
            <a:br/>
            <a:r>
              <a:t>K8S滚动更新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17520"/>
            <a:ext cx="3657600" cy="219456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906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⚙️ XGBoost 模型参数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015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n_estimators:        500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max_depth:           8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learning_rate:       0.05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subsample:           0.8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colsample_bytree:    0.7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scale_pos_weight:    30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eval_metric:         AUC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early_stopping:      50轮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输入特征: 15个核心特征 + 扩展特征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金额/频率/设备/地域/行为偏离度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017520"/>
            <a:ext cx="365760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0906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📈 CI/CD 流程 (GitLab CI)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4015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Stage 1: test → 单元测试 + 数据验证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Stage 2: train → 模型训练 (GPU加速)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Stage 3: evaluate → AUC/Recall/Precision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Stage 4: deploy → Docker打包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         → K8S滚动更新 ML Serving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触发条件: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代码合并 → 自动训练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Tag创建 → 生产部署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每周定时 → 增量训练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3566160" cy="2194560"/>
          </a:xfrm>
          <a:prstGeom prst="round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9067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📊 模型监控指标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40156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AUC:           ≥ 0.92 ✓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Precision:     ≥ 0.85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Recall:        ≥ 0.80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F1-Score:      ≥ 0.82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告警条件: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精度漂移 &gt; 5% → P1告警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连续7天下降 → 触发重训练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• 推理延迟 &gt; 300ms → P2告警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模型版本保留: 最近10个版本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5394960"/>
          <a:ext cx="114300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模型名称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输出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AUC要求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有监督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欺诈分类模型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二分类判断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交易特征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欺诈概率(0-1)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有监督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可疑等级模型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多分类判断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交易+客户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可疑等级(1-5)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无监督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异常检测模型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识别新型欺诈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行为特征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异常分数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图网络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团伙识别模型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关联欺诈检测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关系图谱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团伙标签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消息流转与系统吞吐设计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Kafka Topic架构 + 实时流处理数据链路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26/27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760720" cy="3657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📨 Kafka Topic 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transaction-raw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(原始交易数据, 3Partition, 保留7天)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   ↓           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Flink → 清洗 → 特征提取 → 风险评估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   ↓           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transaction-assessed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(已评估交易, 5Partition, 保留30天)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   ↓           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alert-created  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(新建预警事件, 3Partition, 保留90天)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   ↓             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knowledge-updated                   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│  (知识库更新事件, 2Partition, 保留30天)   │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└─────────────────────────────────────────┘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37160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测量方式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实时交易 TPS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 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Prometheus Counter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评分延迟 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200ms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评分延迟 P99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500ms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预警生成延迟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知识库检索 P99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Jaeger Tracing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模型推理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200ms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TF Serving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Kafka消费延迟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10,000条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Consumer Lag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系统可用性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 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Prometheus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并发用户数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 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Session Count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报表生成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≤ 60s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定时任务监控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5212080"/>
            <a:ext cx="11430000" cy="137160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🔄 实时数据链路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961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[交易系统] → Kafka → Flink(清洗+特征) → 规则引擎(Drools) → ML模型(XGBoost) → 知识库检索(RAG) → 综合评分 → [决策输出]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                                                                      ↓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                                          [预警生成] → Kafka → [通知推送] + [DB存储] + [Grafana面板]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验收测试场景与质量保障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功能测试、性能测试、可靠性测试全覆盖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27/27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3931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编号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测试场景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预期结果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正常交易监控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低风险评分，不生成预警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高风险交易监控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高风险评分≥80，自动预警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中风险交易监控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中风险评分50-79，生成预警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规则引擎 - 大额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R001触发，权重+30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规则引擎 - 边缘值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49.5万不触发R001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名单精准匹配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制裁名单命中→100分阻断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TC-TM-007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名单模糊匹配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返回候选列表，人工确认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TC-AG-001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智能体综合评估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输出溯源+评分+决策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TC-AG-002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RAG知识检索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Top-5相似案例，≤2秒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TC-ML-001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异常检测模型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异常分数≥0.8触发告警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TC-ML-002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正常行为检测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异常分数≤0.3不触发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80560" y="137160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编号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交易处理能力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5000TPS, P99≤500ms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知识库检索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100并发, P99≤2秒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预警批量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1000笔突发, ≤5秒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模型推理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100并发, P99≤200ms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高可用切换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故障切换≤5分钟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TC-PERF-006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主从同步延迟≤1秒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480560" y="4389120"/>
            <a:ext cx="7315200" cy="2194560"/>
          </a:xfrm>
          <a:prstGeom prst="round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4462272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✅ 质量保障体系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773168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代码质量: SonarQube静态扫描 + Code Review (覆盖率≥80%)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单元测试: JUnit5 + Mockito (微服务层覆盖率≥85%)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集成测试: TestContainers + Embedded Kafka/Redis/MySQL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性能测试: JMeter 压力测试 + Gatling 持续压测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安全测试: OWASP ZAP漏洞扫描 + 渗透测试 + 依赖漏洞扫描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混沌工程: Chaos Mesh故障注入 → 验证高可用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回归测试: 每次发布前全量回归，自动化执行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E"/>
                </a:solidFill>
              </a:defRPr>
            </a:pPr>
            <a:r>
              <a:t>项目总结与展望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从"规则驱动"到"数据驱动+AI智能体驱动"的智能化升级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28/27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2560320"/>
          </a:xfrm>
          <a:prstGeom prst="round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🎯 核心能力达成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实时监控: 5000+ TPS, P99 ≤ 500ms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规则引擎: 30+业务规则, Drools执行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ML模型: XGBoost AUC ≥ 0.92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RAG检索: 向量库 Milvus, ≤ 2秒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名单扫描: 精确+模糊匹配, ≤ 100ms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可用性: 99.9%, K8S高可用部署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合规: FATF + 人民银行 + 银保监会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✅ 可解释: SHAP + 规则溯源 + 案例引用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256032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447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📊 预期效果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55648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误报率: 从40% → ≤15% (降低62.5%)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识别准确率: 从75% → ≥95% (提升27%)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预警响应: 从30分钟 → ≤5分钟 (提升83%)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新型欺诈发现: 从人工 → AI自动识别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合规覆盖: 从部分覆盖 → 100%覆盖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人工工作量: 减少60%，聚焦高风险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661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2B4E"/>
                </a:solidFill>
              </a:defRPr>
            </a:pPr>
            <a:r>
              <a:t>🔮 未来规划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55648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2: 图神经网络(GNN)团伙识别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2: 大模型LLM辅助调查报告生成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3: 联邦学习跨机构协作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3: 实时语音/视频欺诈检测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4: 自适应规则引擎(RL优化)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Phase 4: 全渠道统一风控平台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2976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核心组件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部署规模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关键指标</a:t>
                      </a:r>
                    </a:p>
                  </a:txBody>
                  <a:tcPr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数据采集层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Kafka/Flume/Canal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3.x/1.x/1.x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3节点 Kafka集群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峰值 10000 TPS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实时计算层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Apache Flink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1.16+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 TaskManager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延迟 P99≤500ms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知识库层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Milvus/ES/MySQL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2.x/7.x/8.0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向量库2节点+ES3节点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检索 P99≤2s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AI智能体层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LangChain/Drools/TF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最新/7.x/2.x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智能体2节点+ML 4GPU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决策 P99≤2.5s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服务层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Spring Cloud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2021.0.5.0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微服务10+实例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可用性≥99.9%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运维层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Prometheus/Grafana/K8S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 Master+10 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故障切换≤5min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反欺诈与反恐融资风险识别智能体系统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版本 V2.0 | 2026年5月 | 银行科技部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5585</Words>
  <Application>Microsoft Office PowerPoint</Application>
  <PresentationFormat>宽屏</PresentationFormat>
  <Paragraphs>883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武德 翁</cp:lastModifiedBy>
  <cp:revision>2</cp:revision>
  <dcterms:created xsi:type="dcterms:W3CDTF">2013-01-27T09:14:16Z</dcterms:created>
  <dcterms:modified xsi:type="dcterms:W3CDTF">2026-05-28T23:54:48Z</dcterms:modified>
  <cp:category/>
</cp:coreProperties>
</file>